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7"/>
  </p:notesMasterIdLst>
  <p:sldIdLst>
    <p:sldId id="256" r:id="rId2"/>
    <p:sldId id="258" r:id="rId3"/>
    <p:sldId id="274" r:id="rId4"/>
    <p:sldId id="263" r:id="rId5"/>
    <p:sldId id="275" r:id="rId6"/>
    <p:sldId id="268" r:id="rId7"/>
    <p:sldId id="260" r:id="rId8"/>
    <p:sldId id="261" r:id="rId9"/>
    <p:sldId id="262" r:id="rId10"/>
    <p:sldId id="266" r:id="rId11"/>
    <p:sldId id="264" r:id="rId12"/>
    <p:sldId id="272" r:id="rId13"/>
    <p:sldId id="267" r:id="rId14"/>
    <p:sldId id="269" r:id="rId15"/>
    <p:sldId id="273" r:id="rId16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8"/>
      <p:bold r:id="rId19"/>
      <p:italic r:id="rId20"/>
      <p:boldItalic r:id="rId21"/>
    </p:embeddedFont>
    <p:embeddedFont>
      <p:font typeface="Open Sans" panose="020B0606030504020204" pitchFamily="3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46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535b41f7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535b41f7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51471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15214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7520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vel Templat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11450" y="4733600"/>
            <a:ext cx="304150" cy="30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pic>
        <p:nvPicPr>
          <p:cNvPr id="14" name="Google Shape;14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11450" y="4733600"/>
            <a:ext cx="304150" cy="30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20" name="Google Shape;20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11450" y="4733600"/>
            <a:ext cx="304150" cy="30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pic>
        <p:nvPicPr>
          <p:cNvPr id="25" name="Google Shape;25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11450" y="4733600"/>
            <a:ext cx="304150" cy="30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28" name="Google Shape;28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11450" y="4733600"/>
            <a:ext cx="304150" cy="30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pic>
        <p:nvPicPr>
          <p:cNvPr id="32" name="Google Shape;3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11450" y="4733600"/>
            <a:ext cx="304150" cy="30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pic>
        <p:nvPicPr>
          <p:cNvPr id="35" name="Google Shape;3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11450" y="4733600"/>
            <a:ext cx="304150" cy="30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pic>
        <p:nvPicPr>
          <p:cNvPr id="43" name="Google Shape;43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11450" y="4733600"/>
            <a:ext cx="304150" cy="30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47" name="Google Shape;47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11450" y="4733600"/>
            <a:ext cx="304150" cy="30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11450" y="4733600"/>
            <a:ext cx="304150" cy="30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4"/>
          <p:cNvPicPr preferRelativeResize="0"/>
          <p:nvPr/>
        </p:nvPicPr>
        <p:blipFill rotWithShape="1">
          <a:blip r:embed="rId3">
            <a:alphaModFix/>
          </a:blip>
          <a:srcRect l="34491" t="7982" b="9298"/>
          <a:stretch/>
        </p:blipFill>
        <p:spPr>
          <a:xfrm>
            <a:off x="14598" y="0"/>
            <a:ext cx="40734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176222" y="834691"/>
            <a:ext cx="3750226" cy="66440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IN" sz="1600" b="1" dirty="0">
                <a:solidFill>
                  <a:schemeClr val="bg1"/>
                </a:solidFill>
                <a:latin typeface="+mj-lt"/>
                <a:ea typeface="Arial"/>
                <a:cs typeface="Arial"/>
                <a:sym typeface="Arial"/>
              </a:rPr>
              <a:t>E-Commerce Cloud Data Platform</a:t>
            </a:r>
            <a:endParaRPr sz="1600" b="1" dirty="0">
              <a:solidFill>
                <a:schemeClr val="bg1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pic>
        <p:nvPicPr>
          <p:cNvPr id="56" name="Google Shape;5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4975" y="1555875"/>
            <a:ext cx="4887674" cy="17063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4"/>
          <p:cNvSpPr txBox="1">
            <a:spLocks noGrp="1"/>
          </p:cNvSpPr>
          <p:nvPr>
            <p:ph type="title" idx="4294967295"/>
          </p:nvPr>
        </p:nvSpPr>
        <p:spPr>
          <a:xfrm>
            <a:off x="283177" y="1745147"/>
            <a:ext cx="364327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SzPts val="990"/>
            </a:pPr>
            <a:r>
              <a:rPr lang="en-IN" sz="1600" dirty="0">
                <a:solidFill>
                  <a:schemeClr val="bg1"/>
                </a:solidFill>
              </a:rPr>
              <a:t>M3 – Batch + Streaming Ingestion, </a:t>
            </a:r>
            <a:r>
              <a:rPr lang="en-IN" sz="1600" dirty="0" err="1">
                <a:solidFill>
                  <a:schemeClr val="bg1"/>
                </a:solidFill>
              </a:rPr>
              <a:t>BigQuery</a:t>
            </a:r>
            <a:r>
              <a:rPr lang="en-IN" sz="1600" dirty="0">
                <a:solidFill>
                  <a:schemeClr val="bg1"/>
                </a:solidFill>
              </a:rPr>
              <a:t> Medallion Architecture, </a:t>
            </a:r>
            <a:r>
              <a:rPr lang="en-IN" sz="1600" dirty="0" err="1">
                <a:solidFill>
                  <a:schemeClr val="bg1"/>
                </a:solidFill>
              </a:rPr>
              <a:t>Dataplex</a:t>
            </a:r>
            <a:r>
              <a:rPr lang="en-IN" sz="1600" dirty="0">
                <a:solidFill>
                  <a:schemeClr val="bg1"/>
                </a:solidFill>
              </a:rPr>
              <a:t> Governance, Cloud Run &amp; Dataflow on GCP</a:t>
            </a:r>
            <a:endParaRPr sz="1500" dirty="0">
              <a:solidFill>
                <a:schemeClr val="bg1"/>
              </a:solidFill>
            </a:endParaRPr>
          </a:p>
        </p:txBody>
      </p:sp>
      <p:sp>
        <p:nvSpPr>
          <p:cNvPr id="58" name="Google Shape;58;p14"/>
          <p:cNvSpPr txBox="1"/>
          <p:nvPr/>
        </p:nvSpPr>
        <p:spPr>
          <a:xfrm>
            <a:off x="283177" y="3022373"/>
            <a:ext cx="2388600" cy="4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2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Rudra Sharma</a:t>
            </a:r>
            <a:endParaRPr sz="172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C9A586-39A4-B657-B57E-477B4244EC23}"/>
              </a:ext>
            </a:extLst>
          </p:cNvPr>
          <p:cNvSpPr txBox="1"/>
          <p:nvPr/>
        </p:nvSpPr>
        <p:spPr>
          <a:xfrm>
            <a:off x="176222" y="3675879"/>
            <a:ext cx="27305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Project ID:</a:t>
            </a:r>
            <a:r>
              <a:rPr lang="en-IN" dirty="0">
                <a:solidFill>
                  <a:schemeClr val="bg1"/>
                </a:solidFill>
              </a:rPr>
              <a:t> m3-ecom  </a:t>
            </a:r>
          </a:p>
          <a:p>
            <a:r>
              <a:rPr lang="en-IN" b="1" dirty="0">
                <a:solidFill>
                  <a:schemeClr val="bg1"/>
                </a:solidFill>
              </a:rPr>
              <a:t>Region:</a:t>
            </a:r>
            <a:r>
              <a:rPr lang="en-IN" dirty="0">
                <a:solidFill>
                  <a:schemeClr val="bg1"/>
                </a:solidFill>
              </a:rPr>
              <a:t> asia-south2 (Delhi)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155583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buNone/>
            </a:pPr>
            <a:r>
              <a:rPr lang="en" b="1" dirty="0"/>
              <a:t>What This Project Does</a:t>
            </a:r>
          </a:p>
        </p:txBody>
      </p:sp>
      <p:sp>
        <p:nvSpPr>
          <p:cNvPr id="3" name="Body"/>
          <p:cNvSpPr txBox="1">
            <a:spLocks noGrp="1"/>
          </p:cNvSpPr>
          <p:nvPr>
            <p:ph type="body" idx="1"/>
          </p:nvPr>
        </p:nvSpPr>
        <p:spPr>
          <a:xfrm>
            <a:off x="311700" y="490836"/>
            <a:ext cx="8520600" cy="28991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IN" sz="1050" dirty="0"/>
              <a:t>This project is a complete, end-to-end cloud-native data platform built on Google Cloud Platform for a retail/e-commerce company. It was built to demonstrate how a real company would move order data from raw source files all the way into a governed, secure, business-ready reporting layer.</a:t>
            </a:r>
          </a:p>
          <a:p>
            <a:r>
              <a:rPr lang="en-IN" sz="1050" dirty="0"/>
              <a:t>Order data comes into the platform from two different kinds of sources, because in the real world, not all data arrives the same way:</a:t>
            </a:r>
          </a:p>
          <a:p>
            <a:pPr lvl="0"/>
            <a:r>
              <a:rPr lang="en-IN" sz="1050" b="1" dirty="0"/>
              <a:t>Batch data</a:t>
            </a:r>
            <a:r>
              <a:rPr lang="en-IN" sz="1050" dirty="0"/>
              <a:t> — historical order records that already exist in bulk, such as last year's sales history. These arrive as files and get uploaded and processed all at once.</a:t>
            </a:r>
          </a:p>
          <a:p>
            <a:pPr lvl="0"/>
            <a:r>
              <a:rPr lang="en-IN" sz="1050" b="1" dirty="0"/>
              <a:t>Streaming data</a:t>
            </a:r>
            <a:r>
              <a:rPr lang="en-IN" sz="1050" dirty="0"/>
              <a:t> — new orders that are happening right now, one at a time, in near real time. These are simulated using Google Cloud Pub/Sub.</a:t>
            </a:r>
          </a:p>
          <a:p>
            <a:r>
              <a:rPr lang="en-IN" sz="1050" dirty="0"/>
              <a:t>Both of these paths are cleaned, checked for errors, deduplicated, and finally stored in </a:t>
            </a:r>
            <a:r>
              <a:rPr lang="en-IN" sz="1050" dirty="0" err="1"/>
              <a:t>BigQuery</a:t>
            </a:r>
            <a:r>
              <a:rPr lang="en-IN" sz="1050" dirty="0"/>
              <a:t>. On top of </a:t>
            </a:r>
            <a:r>
              <a:rPr lang="en-IN" sz="1050" dirty="0" err="1"/>
              <a:t>BigQuery</a:t>
            </a:r>
            <a:r>
              <a:rPr lang="en-IN" sz="1050" dirty="0"/>
              <a:t>, a </a:t>
            </a:r>
            <a:r>
              <a:rPr lang="en-IN" sz="1050" dirty="0" err="1"/>
              <a:t>dbt</a:t>
            </a:r>
            <a:r>
              <a:rPr lang="en-IN" sz="1050" dirty="0"/>
              <a:t> project organizes everything into a proper layered data warehouse — starting from staging, moving to intermediate, and ending in business-ready marts. The final layer feeds directly into a Looker Studio dashboard. Everything is also registered in </a:t>
            </a:r>
            <a:r>
              <a:rPr lang="en-IN" sz="1050" dirty="0" err="1"/>
              <a:t>Dataplex</a:t>
            </a:r>
            <a:r>
              <a:rPr lang="en-IN" sz="1050" dirty="0"/>
              <a:t> for governance, and the most sensitive tables have both row-level and column-level security applied.</a:t>
            </a:r>
          </a:p>
          <a:p>
            <a:pPr marL="0" lvl="0" indent="0" algn="l" rtl="0">
              <a:spcBef>
                <a:spcPts val="1000"/>
              </a:spcBef>
              <a:spcAft>
                <a:spcPts val="600"/>
              </a:spcAft>
              <a:buNone/>
            </a:pPr>
            <a:endParaRPr lang="en" sz="900" i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7A7322-DDCB-CAE4-B7F3-FEFEA0FE4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006594"/>
            <a:ext cx="3248722" cy="21369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158E2-0775-EEBA-F29C-5CC0004A1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# Project Structure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E46C7-838A-B7EF-5BCD-B545EDEE73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M3_Project/</a:t>
            </a:r>
          </a:p>
          <a:p>
            <a:r>
              <a:rPr lang="en-IN" dirty="0"/>
              <a:t>├── ingestion/</a:t>
            </a:r>
          </a:p>
          <a:p>
            <a:r>
              <a:rPr lang="en-IN" dirty="0"/>
              <a:t>│   ├── batch_ingest.py         (batch pipeline: validate, convert, upload, merge)</a:t>
            </a:r>
          </a:p>
          <a:p>
            <a:r>
              <a:rPr lang="en-IN" dirty="0"/>
              <a:t>│   ├── stream_publish.py       (publishes sample orders to Pub/Sub)</a:t>
            </a:r>
          </a:p>
          <a:p>
            <a:r>
              <a:rPr lang="en-IN" dirty="0"/>
              <a:t>│   ├── dataflow_pipeline.py    (Apache Beam streaming pipeline)</a:t>
            </a:r>
          </a:p>
          <a:p>
            <a:r>
              <a:rPr lang="en-IN" dirty="0"/>
              <a:t>│   ├── requirements-dataflow.txt</a:t>
            </a:r>
          </a:p>
          <a:p>
            <a:r>
              <a:rPr lang="en-IN" dirty="0"/>
              <a:t>│   └── .</a:t>
            </a:r>
            <a:r>
              <a:rPr lang="en-IN" dirty="0" err="1"/>
              <a:t>env.example</a:t>
            </a:r>
            <a:endParaRPr lang="en-IN" dirty="0"/>
          </a:p>
          <a:p>
            <a:r>
              <a:rPr lang="en-IN" dirty="0"/>
              <a:t>├── </a:t>
            </a:r>
            <a:r>
              <a:rPr lang="en-IN" dirty="0" err="1"/>
              <a:t>sql</a:t>
            </a:r>
            <a:r>
              <a:rPr lang="en-IN" dirty="0"/>
              <a:t>/</a:t>
            </a:r>
          </a:p>
          <a:p>
            <a:r>
              <a:rPr lang="en-IN" dirty="0"/>
              <a:t>│   ├── 01_create_raw_tables.sql</a:t>
            </a:r>
          </a:p>
          <a:p>
            <a:r>
              <a:rPr lang="en-IN" dirty="0"/>
              <a:t>│   ├── 02_analytics_queries.sql</a:t>
            </a:r>
          </a:p>
          <a:p>
            <a:r>
              <a:rPr lang="en-IN" dirty="0"/>
              <a:t>│   ├── 03_row_level_security.sql</a:t>
            </a:r>
          </a:p>
          <a:p>
            <a:r>
              <a:rPr lang="en-IN" dirty="0"/>
              <a:t>│   ├── 04_verification_queries.sql</a:t>
            </a:r>
          </a:p>
          <a:p>
            <a:r>
              <a:rPr lang="en-IN" dirty="0"/>
              <a:t>│   └── 05_stream_dedup_reconciliation.sql</a:t>
            </a:r>
          </a:p>
          <a:p>
            <a:r>
              <a:rPr lang="en-IN" dirty="0"/>
              <a:t>├── </a:t>
            </a:r>
            <a:r>
              <a:rPr lang="en-IN" dirty="0" err="1"/>
              <a:t>dbt_project</a:t>
            </a:r>
            <a:r>
              <a:rPr lang="en-IN" dirty="0"/>
              <a:t>/</a:t>
            </a:r>
          </a:p>
          <a:p>
            <a:r>
              <a:rPr lang="en-IN" dirty="0"/>
              <a:t>│   ├── models/staging/         (one model per raw source)</a:t>
            </a:r>
          </a:p>
          <a:p>
            <a:r>
              <a:rPr lang="en-IN" dirty="0"/>
              <a:t>│   ├── models/intermediate/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15D523-67AE-CB51-7FE0-769CFDCF1AE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(</a:t>
            </a:r>
            <a:r>
              <a:rPr lang="en-IN" dirty="0" err="1"/>
              <a:t>int_orders_unioned.sql</a:t>
            </a:r>
            <a:r>
              <a:rPr lang="en-IN" dirty="0"/>
              <a:t>)</a:t>
            </a:r>
          </a:p>
          <a:p>
            <a:r>
              <a:rPr lang="en-IN" dirty="0"/>
              <a:t>│   └── models/marts/           (dimension tables, </a:t>
            </a:r>
            <a:r>
              <a:rPr lang="en-IN" dirty="0" err="1"/>
              <a:t>fact_orders</a:t>
            </a:r>
            <a:r>
              <a:rPr lang="en-IN" dirty="0"/>
              <a:t>, </a:t>
            </a:r>
            <a:r>
              <a:rPr lang="en-IN" dirty="0" err="1"/>
              <a:t>rpt_sales_summary</a:t>
            </a:r>
            <a:r>
              <a:rPr lang="en-IN" dirty="0"/>
              <a:t>)</a:t>
            </a:r>
          </a:p>
          <a:p>
            <a:r>
              <a:rPr lang="en-IN" dirty="0"/>
              <a:t>├── data/</a:t>
            </a:r>
          </a:p>
          <a:p>
            <a:r>
              <a:rPr lang="en-IN" dirty="0"/>
              <a:t>│   ├── batch/                  (customers.csv, products.csv, campaigns.csv, orders_historical.csv)</a:t>
            </a:r>
          </a:p>
          <a:p>
            <a:r>
              <a:rPr lang="en-IN" dirty="0"/>
              <a:t>│   └── stream/                 (orders_new.csv, replayed as Pub/Sub messages)</a:t>
            </a:r>
          </a:p>
          <a:p>
            <a:r>
              <a:rPr lang="en-IN" dirty="0"/>
              <a:t>├── docs/</a:t>
            </a:r>
          </a:p>
          <a:p>
            <a:r>
              <a:rPr lang="en-IN" dirty="0"/>
              <a:t>│   ├── gcp_commands_used.md    (every </a:t>
            </a:r>
            <a:r>
              <a:rPr lang="en-IN" dirty="0" err="1"/>
              <a:t>gcloud</a:t>
            </a:r>
            <a:r>
              <a:rPr lang="en-IN" dirty="0"/>
              <a:t>/</a:t>
            </a:r>
            <a:r>
              <a:rPr lang="en-IN" dirty="0" err="1"/>
              <a:t>bq</a:t>
            </a:r>
            <a:r>
              <a:rPr lang="en-IN" dirty="0"/>
              <a:t> command used, in order)</a:t>
            </a:r>
          </a:p>
          <a:p>
            <a:r>
              <a:rPr lang="en-IN" dirty="0"/>
              <a:t>│   └── data_governance.md      (write-up on governance and reliability)</a:t>
            </a:r>
          </a:p>
          <a:p>
            <a:r>
              <a:rPr lang="en-IN" dirty="0"/>
              <a:t>├── screenshots/                (console proof for every resource created)</a:t>
            </a:r>
          </a:p>
          <a:p>
            <a:r>
              <a:rPr lang="en-IN" dirty="0"/>
              <a:t>├── </a:t>
            </a:r>
            <a:r>
              <a:rPr lang="en-IN" dirty="0" err="1"/>
              <a:t>Dockerfile</a:t>
            </a:r>
            <a:r>
              <a:rPr lang="en-IN" dirty="0"/>
              <a:t>                  (packages batch ingestion as a Cloud Run Job)</a:t>
            </a:r>
          </a:p>
          <a:p>
            <a:r>
              <a:rPr lang="en-IN" dirty="0"/>
              <a:t>└── README.md</a:t>
            </a:r>
            <a:br>
              <a:rPr lang="en-IN" dirty="0"/>
            </a:br>
            <a:endParaRPr lang="en-IN" dirty="0"/>
          </a:p>
          <a:p>
            <a:pPr marL="15240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1518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311700" y="19969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IN" dirty="0"/>
              <a:t>IAM &amp; Security Setup</a:t>
            </a:r>
            <a:endParaRPr lang="en" b="1" dirty="0"/>
          </a:p>
        </p:txBody>
      </p:sp>
      <p:sp>
        <p:nvSpPr>
          <p:cNvPr id="3" name="Body"/>
          <p:cNvSpPr txBox="1">
            <a:spLocks noGrp="1"/>
          </p:cNvSpPr>
          <p:nvPr>
            <p:ph type="body" idx="1"/>
          </p:nvPr>
        </p:nvSpPr>
        <p:spPr>
          <a:xfrm>
            <a:off x="311700" y="772398"/>
            <a:ext cx="8520600" cy="12041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>
              <a:spcAft>
                <a:spcPts val="900"/>
              </a:spcAft>
              <a:buNone/>
            </a:pPr>
            <a:r>
              <a:rPr lang="en-IN" sz="1600" dirty="0"/>
              <a:t>Proper IAM roles were granted to the Compute Engine default service account, which runs the Dataflow worker: </a:t>
            </a:r>
            <a:r>
              <a:rPr lang="en-IN" sz="1600" dirty="0" err="1"/>
              <a:t>BigQuery</a:t>
            </a:r>
            <a:r>
              <a:rPr lang="en-IN" sz="1600" dirty="0"/>
              <a:t> Data Editor, </a:t>
            </a:r>
            <a:r>
              <a:rPr lang="en-IN" sz="1600" dirty="0" err="1"/>
              <a:t>BigQuery</a:t>
            </a:r>
            <a:r>
              <a:rPr lang="en-IN" sz="1600" dirty="0"/>
              <a:t> Job User, Dataflow Worker, Pub/Sub Editor, Storage Object Admin, and Artifact Registry Writer. Getting this permission set right was itself part of the debugging process </a:t>
            </a:r>
            <a:endParaRPr lang="en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F43C330-91BA-C15F-A41D-48E8B46C0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5445" y="1976547"/>
            <a:ext cx="4465003" cy="25012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A3ABC5B-E8DE-3B7E-288C-5536B8DF2E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552" y="2001343"/>
            <a:ext cx="4214613" cy="24764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87B85-96D9-DBDC-BBB6-C485E4349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Project setup and enabling APIs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23BAC-1C57-F936-AC78-3913898493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latinLnBrk="0"/>
            <a:r>
              <a:rPr lang="en-IN" dirty="0" err="1"/>
              <a:t>gcloud</a:t>
            </a:r>
            <a:r>
              <a:rPr lang="en-IN" dirty="0"/>
              <a:t> auth login</a:t>
            </a:r>
          </a:p>
          <a:p>
            <a:pPr latinLnBrk="0"/>
            <a:r>
              <a:rPr lang="en-IN" dirty="0" err="1"/>
              <a:t>gcloud</a:t>
            </a:r>
            <a:r>
              <a:rPr lang="en-IN" dirty="0"/>
              <a:t> auth application-default login</a:t>
            </a:r>
          </a:p>
          <a:p>
            <a:pPr latinLnBrk="0"/>
            <a:r>
              <a:rPr lang="en-IN" dirty="0" err="1"/>
              <a:t>gcloud</a:t>
            </a:r>
            <a:r>
              <a:rPr lang="en-IN" dirty="0"/>
              <a:t> config set project m3-ecom</a:t>
            </a:r>
          </a:p>
          <a:p>
            <a:pPr latinLnBrk="0"/>
            <a:endParaRPr lang="en-IN" dirty="0"/>
          </a:p>
          <a:p>
            <a:pPr latinLnBrk="0"/>
            <a:r>
              <a:rPr lang="en-IN" dirty="0" err="1"/>
              <a:t>gcloud</a:t>
            </a:r>
            <a:r>
              <a:rPr lang="en-IN" dirty="0"/>
              <a:t> services enable \</a:t>
            </a:r>
          </a:p>
          <a:p>
            <a:pPr latinLnBrk="0"/>
            <a:r>
              <a:rPr lang="en-IN" dirty="0"/>
              <a:t>  storage.googleapis.com \</a:t>
            </a:r>
          </a:p>
          <a:p>
            <a:pPr latinLnBrk="0"/>
            <a:r>
              <a:rPr lang="en-IN" dirty="0"/>
              <a:t>  bigquery.googleapis.com \</a:t>
            </a:r>
          </a:p>
          <a:p>
            <a:pPr latinLnBrk="0"/>
            <a:r>
              <a:rPr lang="en-IN" dirty="0"/>
              <a:t>  pubsub.googleapis.com \</a:t>
            </a:r>
          </a:p>
          <a:p>
            <a:pPr latinLnBrk="0"/>
            <a:r>
              <a:rPr lang="en-IN" dirty="0"/>
              <a:t>  dataflow.googleapis.com \</a:t>
            </a:r>
          </a:p>
          <a:p>
            <a:pPr latinLnBrk="0"/>
            <a:r>
              <a:rPr lang="en-IN" dirty="0"/>
              <a:t>  dataplex.googleapis.com \</a:t>
            </a:r>
          </a:p>
          <a:p>
            <a:pPr latinLnBrk="0"/>
            <a:r>
              <a:rPr lang="en-IN" dirty="0"/>
              <a:t>  datacatalog.googleapis.com \</a:t>
            </a:r>
          </a:p>
          <a:p>
            <a:pPr latinLnBrk="0"/>
            <a:r>
              <a:rPr lang="en-IN" dirty="0"/>
              <a:t>  run.googleapis.com \</a:t>
            </a:r>
          </a:p>
          <a:p>
            <a:pPr latinLnBrk="0"/>
            <a:r>
              <a:rPr lang="en-IN" dirty="0"/>
              <a:t>  cloudbuild.googleapis.com \</a:t>
            </a:r>
          </a:p>
          <a:p>
            <a:pPr latinLnBrk="0"/>
            <a:r>
              <a:rPr lang="en-IN" dirty="0"/>
              <a:t>  artifactregistry.googleapis.com \</a:t>
            </a:r>
          </a:p>
          <a:p>
            <a:pPr latinLnBrk="0"/>
            <a:r>
              <a:rPr lang="en-IN" dirty="0"/>
              <a:t>  logging.googleapis.com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7896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IN" dirty="0"/>
              <a:t>Cloud Run</a:t>
            </a:r>
            <a:endParaRPr lang="en" b="1" dirty="0"/>
          </a:p>
        </p:txBody>
      </p:sp>
      <p:sp>
        <p:nvSpPr>
          <p:cNvPr id="3" name="Body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174915" cy="28768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900"/>
              </a:spcAft>
              <a:buNone/>
            </a:pPr>
            <a:r>
              <a:rPr lang="en-IN" sz="1400" dirty="0"/>
              <a:t>The batch ingestion script was also packaged to run as a Cloud Run Job, in addition to running directly on a local machine, to demonstrate a real production deployment path. A </a:t>
            </a:r>
            <a:r>
              <a:rPr lang="en-IN" sz="1400" dirty="0" err="1"/>
              <a:t>Dockerfile</a:t>
            </a:r>
            <a:r>
              <a:rPr lang="en-IN" sz="1400" dirty="0"/>
              <a:t> at the root of the repository copies the ingestion folder and installs dependencies, and the exact same batch_ingest.py script runs inside the container as runs locally</a:t>
            </a:r>
            <a:endParaRPr lang="en" sz="1400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712817-4C63-DA3A-1913-FC84DB2DF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971" y="445025"/>
            <a:ext cx="5597912" cy="39751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311700" y="155093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IN" dirty="0"/>
              <a:t>Cloud Storage Buckets</a:t>
            </a:r>
            <a:endParaRPr lang="en" b="1" dirty="0"/>
          </a:p>
        </p:txBody>
      </p:sp>
      <p:sp>
        <p:nvSpPr>
          <p:cNvPr id="3" name="Body"/>
          <p:cNvSpPr txBox="1">
            <a:spLocks noGrp="1"/>
          </p:cNvSpPr>
          <p:nvPr>
            <p:ph type="body" idx="1"/>
          </p:nvPr>
        </p:nvSpPr>
        <p:spPr>
          <a:xfrm>
            <a:off x="185855" y="74341"/>
            <a:ext cx="3479180" cy="45242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buNone/>
            </a:pPr>
            <a:br>
              <a:rPr lang="en-IN" sz="1100" dirty="0"/>
            </a:br>
            <a:endParaRPr lang="en-IN" sz="1100" dirty="0"/>
          </a:p>
          <a:p>
            <a:endParaRPr lang="en" sz="11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03A8C5-AFCA-1E83-08EC-1A095F2D1670}"/>
              </a:ext>
            </a:extLst>
          </p:cNvPr>
          <p:cNvSpPr txBox="1"/>
          <p:nvPr/>
        </p:nvSpPr>
        <p:spPr>
          <a:xfrm>
            <a:off x="185855" y="585709"/>
            <a:ext cx="886893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Three Cloud Storage buckets were created in the asia-south2 region: m3-ecom-batch-data to hold batch-processed Parquet files, m3-ecom-dataflow-stream for Dataflow's staging and temp files, and m3-ecom_cloudbuild for container build artifacts. The batch bucket's processed/ folder shows the actual Parquet outputs — customers, campaigns, products, and orders — confirming the batch pipeline successfully wrote its output.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604028-17FA-DD84-C69C-DA29B8D24E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6342" y="1694986"/>
            <a:ext cx="4378448" cy="26976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4043BB4-5EDA-F028-41CA-C8B35B6654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10" y="1694985"/>
            <a:ext cx="4238797" cy="26976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311700" y="1586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IN" dirty="0"/>
              <a:t>Pub/Sub Setup</a:t>
            </a:r>
            <a:endParaRPr lang="en" b="1" dirty="0"/>
          </a:p>
        </p:txBody>
      </p:sp>
      <p:sp>
        <p:nvSpPr>
          <p:cNvPr id="3" name="Body"/>
          <p:cNvSpPr txBox="1">
            <a:spLocks noGrp="1"/>
          </p:cNvSpPr>
          <p:nvPr>
            <p:ph type="body" idx="1"/>
          </p:nvPr>
        </p:nvSpPr>
        <p:spPr>
          <a:xfrm>
            <a:off x="311700" y="731375"/>
            <a:ext cx="8520600" cy="13278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>
              <a:spcAft>
                <a:spcPts val="500"/>
              </a:spcAft>
              <a:buNone/>
            </a:pPr>
            <a:r>
              <a:rPr lang="en-IN" sz="1600" dirty="0"/>
              <a:t>A Pub/Sub topic called </a:t>
            </a:r>
            <a:r>
              <a:rPr lang="en-IN" dirty="0"/>
              <a:t>orders-topic</a:t>
            </a:r>
            <a:r>
              <a:rPr lang="en-IN" sz="1600" dirty="0"/>
              <a:t> was created, along with a subscription </a:t>
            </a:r>
            <a:r>
              <a:rPr lang="en-IN" dirty="0"/>
              <a:t>orders-topic-sub</a:t>
            </a:r>
            <a:r>
              <a:rPr lang="en-IN" sz="1600" dirty="0"/>
              <a:t> used by the Dataflow pipeline to pull messages. The subscription shows an active state, with an oldest </a:t>
            </a:r>
            <a:r>
              <a:rPr lang="en-IN" sz="1600" dirty="0" err="1"/>
              <a:t>unacked</a:t>
            </a:r>
            <a:r>
              <a:rPr lang="en-IN" sz="1600" dirty="0"/>
              <a:t> message age of zero — meaning the pipeline is keeping up with incoming messages in real time.</a:t>
            </a:r>
            <a:endParaRPr lang="en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03D6035-5B69-A964-6426-27441DEDB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3317" y="2059259"/>
            <a:ext cx="4624038" cy="25003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BAF7494-53E7-AE15-6821-695B8A277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45" y="2059259"/>
            <a:ext cx="4200292" cy="258599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IN" dirty="0"/>
              <a:t>Dataflow Streaming Job</a:t>
            </a:r>
            <a:endParaRPr lang="en" b="1" dirty="0"/>
          </a:p>
        </p:txBody>
      </p:sp>
      <p:sp>
        <p:nvSpPr>
          <p:cNvPr id="3" name="Body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16576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>
              <a:spcAft>
                <a:spcPts val="500"/>
              </a:spcAft>
              <a:buNone/>
            </a:pPr>
            <a:r>
              <a:rPr lang="en-IN" sz="1200" dirty="0"/>
              <a:t>The Dataflow job </a:t>
            </a:r>
            <a:r>
              <a:rPr lang="en-IN" dirty="0" err="1"/>
              <a:t>ecom</a:t>
            </a:r>
            <a:r>
              <a:rPr lang="en-IN" dirty="0"/>
              <a:t>-streaming-pipeline</a:t>
            </a:r>
            <a:r>
              <a:rPr lang="en-IN" sz="1200" dirty="0"/>
              <a:t> runs continuously in streaming mode. The job graph shows every stage exactly as designed: reading from Pub/Sub, validating and parsing, windowing, grouping and deduplicating by order ID, and finally writing good and bad records to separate </a:t>
            </a:r>
            <a:r>
              <a:rPr lang="en-IN" sz="1200" dirty="0" err="1"/>
              <a:t>BigQuery</a:t>
            </a:r>
            <a:r>
              <a:rPr lang="en-IN" sz="1200" dirty="0"/>
              <a:t> tables. Earlier failed job attempts, visible in the job history</a:t>
            </a:r>
            <a:endParaRPr lang="en" sz="1300" dirty="0"/>
          </a:p>
        </p:txBody>
      </p:sp>
      <p:sp>
        <p:nvSpPr>
          <p:cNvPr id="4" name="Body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Aft>
                <a:spcPts val="500"/>
              </a:spcAft>
              <a:buNone/>
            </a:pPr>
            <a:endParaRPr lang="en" sz="13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F22071-7C66-80BB-D509-BEF15238B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77" y="2706030"/>
            <a:ext cx="4224223" cy="23333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270957E-07DB-DEC0-C2F4-BE99C05FE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52475"/>
            <a:ext cx="4484623" cy="34789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IN" dirty="0" err="1"/>
              <a:t>BigQuery</a:t>
            </a:r>
            <a:r>
              <a:rPr lang="en-IN" dirty="0"/>
              <a:t>: Raw, Processed, and Reporting Layers</a:t>
            </a:r>
            <a:endParaRPr lang="en" b="1" dirty="0"/>
          </a:p>
        </p:txBody>
      </p:sp>
      <p:sp>
        <p:nvSpPr>
          <p:cNvPr id="3" name="Body"/>
          <p:cNvSpPr txBox="1">
            <a:spLocks noGrp="1"/>
          </p:cNvSpPr>
          <p:nvPr>
            <p:ph type="body" idx="1"/>
          </p:nvPr>
        </p:nvSpPr>
        <p:spPr>
          <a:xfrm>
            <a:off x="9250680" y="1152474"/>
            <a:ext cx="121920" cy="104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Aft>
                <a:spcPts val="900"/>
              </a:spcAft>
              <a:buNone/>
            </a:pPr>
            <a:endParaRPr lang="en" sz="1600" i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CC260C0-37D8-0238-BC08-7396EC3B67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576985"/>
              </p:ext>
            </p:extLst>
          </p:nvPr>
        </p:nvGraphicFramePr>
        <p:xfrm>
          <a:off x="76201" y="1154328"/>
          <a:ext cx="4741125" cy="3673364"/>
        </p:xfrm>
        <a:graphic>
          <a:graphicData uri="http://schemas.openxmlformats.org/drawingml/2006/table">
            <a:tbl>
              <a:tblPr/>
              <a:tblGrid>
                <a:gridCol w="1580375">
                  <a:extLst>
                    <a:ext uri="{9D8B030D-6E8A-4147-A177-3AD203B41FA5}">
                      <a16:colId xmlns:a16="http://schemas.microsoft.com/office/drawing/2014/main" val="446932533"/>
                    </a:ext>
                  </a:extLst>
                </a:gridCol>
                <a:gridCol w="1580375">
                  <a:extLst>
                    <a:ext uri="{9D8B030D-6E8A-4147-A177-3AD203B41FA5}">
                      <a16:colId xmlns:a16="http://schemas.microsoft.com/office/drawing/2014/main" val="1351866896"/>
                    </a:ext>
                  </a:extLst>
                </a:gridCol>
                <a:gridCol w="1580375">
                  <a:extLst>
                    <a:ext uri="{9D8B030D-6E8A-4147-A177-3AD203B41FA5}">
                      <a16:colId xmlns:a16="http://schemas.microsoft.com/office/drawing/2014/main" val="4014422296"/>
                    </a:ext>
                  </a:extLst>
                </a:gridCol>
              </a:tblGrid>
              <a:tr h="2042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solidFill>
                            <a:schemeClr val="bg2"/>
                          </a:solidFill>
                        </a:rPr>
                        <a:t>Dataset</a:t>
                      </a:r>
                    </a:p>
                  </a:txBody>
                  <a:tcPr marL="78236" marR="78236" marT="39118" marB="39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solidFill>
                            <a:schemeClr val="bg2"/>
                          </a:solidFill>
                        </a:rPr>
                        <a:t>Purpose</a:t>
                      </a:r>
                    </a:p>
                  </a:txBody>
                  <a:tcPr marL="78236" marR="78236" marT="39118" marB="39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solidFill>
                            <a:schemeClr val="bg2"/>
                          </a:solidFill>
                        </a:rPr>
                        <a:t>What lives here</a:t>
                      </a:r>
                    </a:p>
                  </a:txBody>
                  <a:tcPr marL="78236" marR="78236" marT="39118" marB="39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6279602"/>
                  </a:ext>
                </a:extLst>
              </a:tr>
              <a:tr h="10624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raw</a:t>
                      </a:r>
                      <a:endParaRPr lang="en-IN" sz="1050" dirty="0">
                        <a:solidFill>
                          <a:schemeClr val="bg2"/>
                        </a:solidFill>
                      </a:endParaRPr>
                    </a:p>
                  </a:txBody>
                  <a:tcPr marL="78236" marR="78236" marT="39118" marB="39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solidFill>
                            <a:schemeClr val="bg2"/>
                          </a:solidFill>
                        </a:rPr>
                        <a:t>Landing zone — an exact, untouched copy of whatever arrived from source</a:t>
                      </a:r>
                    </a:p>
                  </a:txBody>
                  <a:tcPr marL="78236" marR="78236" marT="39118" marB="39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orders_batch</a:t>
                      </a:r>
                      <a:r>
                        <a:rPr lang="en-IN" sz="1050">
                          <a:solidFill>
                            <a:schemeClr val="bg2"/>
                          </a:solidFill>
                        </a:rPr>
                        <a:t>, </a:t>
                      </a:r>
                      <a:r>
                        <a:rPr lang="en-IN" sz="105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orders_stream</a:t>
                      </a:r>
                      <a:r>
                        <a:rPr lang="en-IN" sz="1050">
                          <a:solidFill>
                            <a:schemeClr val="bg2"/>
                          </a:solidFill>
                        </a:rPr>
                        <a:t>, </a:t>
                      </a:r>
                      <a:r>
                        <a:rPr lang="en-IN" sz="105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orders_batch_errors</a:t>
                      </a:r>
                      <a:r>
                        <a:rPr lang="en-IN" sz="1050">
                          <a:solidFill>
                            <a:schemeClr val="bg2"/>
                          </a:solidFill>
                        </a:rPr>
                        <a:t>, </a:t>
                      </a:r>
                      <a:r>
                        <a:rPr lang="en-IN" sz="105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orders_stream_errors</a:t>
                      </a:r>
                      <a:r>
                        <a:rPr lang="en-IN" sz="1050">
                          <a:solidFill>
                            <a:schemeClr val="bg2"/>
                          </a:solidFill>
                        </a:rPr>
                        <a:t>, </a:t>
                      </a:r>
                      <a:r>
                        <a:rPr lang="en-IN" sz="105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customers</a:t>
                      </a:r>
                      <a:r>
                        <a:rPr lang="en-IN" sz="1050">
                          <a:solidFill>
                            <a:schemeClr val="bg2"/>
                          </a:solidFill>
                        </a:rPr>
                        <a:t>, </a:t>
                      </a:r>
                      <a:r>
                        <a:rPr lang="en-IN" sz="105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products</a:t>
                      </a:r>
                      <a:r>
                        <a:rPr lang="en-IN" sz="1050">
                          <a:solidFill>
                            <a:schemeClr val="bg2"/>
                          </a:solidFill>
                        </a:rPr>
                        <a:t>, </a:t>
                      </a:r>
                      <a:r>
                        <a:rPr lang="en-IN" sz="105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campaigns</a:t>
                      </a:r>
                      <a:endParaRPr lang="en-IN" sz="1050">
                        <a:solidFill>
                          <a:schemeClr val="bg2"/>
                        </a:solidFill>
                      </a:endParaRPr>
                    </a:p>
                  </a:txBody>
                  <a:tcPr marL="78236" marR="78236" marT="39118" marB="39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3139410"/>
                  </a:ext>
                </a:extLst>
              </a:tr>
              <a:tr h="9193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processed</a:t>
                      </a:r>
                      <a:endParaRPr lang="en-IN" sz="1050">
                        <a:solidFill>
                          <a:schemeClr val="bg2"/>
                        </a:solidFill>
                      </a:endParaRPr>
                    </a:p>
                  </a:txBody>
                  <a:tcPr marL="78236" marR="78236" marT="39118" marB="39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>
                          <a:solidFill>
                            <a:schemeClr val="bg2"/>
                          </a:solidFill>
                        </a:rPr>
                        <a:t>Cleaned, typed, and renamed data, built entirely by </a:t>
                      </a:r>
                      <a:r>
                        <a:rPr lang="en-IN" sz="1050" dirty="0" err="1">
                          <a:solidFill>
                            <a:schemeClr val="bg2"/>
                          </a:solidFill>
                        </a:rPr>
                        <a:t>dbt</a:t>
                      </a:r>
                      <a:r>
                        <a:rPr lang="en-IN" sz="1050" dirty="0">
                          <a:solidFill>
                            <a:schemeClr val="bg2"/>
                          </a:solidFill>
                        </a:rPr>
                        <a:t> as views</a:t>
                      </a:r>
                    </a:p>
                  </a:txBody>
                  <a:tcPr marL="78236" marR="78236" marT="39118" marB="39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 err="1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stg_orders_batch</a:t>
                      </a:r>
                      <a:r>
                        <a:rPr lang="en-IN" sz="1050" dirty="0">
                          <a:solidFill>
                            <a:schemeClr val="bg2"/>
                          </a:solidFill>
                        </a:rPr>
                        <a:t>, </a:t>
                      </a:r>
                      <a:r>
                        <a:rPr lang="en-IN" sz="1050" dirty="0" err="1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stg_orders_stream</a:t>
                      </a:r>
                      <a:r>
                        <a:rPr lang="en-IN" sz="1050" dirty="0">
                          <a:solidFill>
                            <a:schemeClr val="bg2"/>
                          </a:solidFill>
                        </a:rPr>
                        <a:t>, </a:t>
                      </a:r>
                      <a:r>
                        <a:rPr lang="en-IN" sz="1050" dirty="0" err="1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stg_customers</a:t>
                      </a:r>
                      <a:r>
                        <a:rPr lang="en-IN" sz="1050" dirty="0">
                          <a:solidFill>
                            <a:schemeClr val="bg2"/>
                          </a:solidFill>
                        </a:rPr>
                        <a:t>, </a:t>
                      </a:r>
                      <a:r>
                        <a:rPr lang="en-IN" sz="1050" dirty="0" err="1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stg_products</a:t>
                      </a:r>
                      <a:r>
                        <a:rPr lang="en-IN" sz="1050" dirty="0">
                          <a:solidFill>
                            <a:schemeClr val="bg2"/>
                          </a:solidFill>
                        </a:rPr>
                        <a:t>, </a:t>
                      </a:r>
                      <a:r>
                        <a:rPr lang="en-IN" sz="1050" dirty="0" err="1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stg_campaigns</a:t>
                      </a:r>
                      <a:r>
                        <a:rPr lang="en-IN" sz="1050" dirty="0">
                          <a:solidFill>
                            <a:schemeClr val="bg2"/>
                          </a:solidFill>
                        </a:rPr>
                        <a:t>, </a:t>
                      </a:r>
                      <a:r>
                        <a:rPr lang="en-IN" sz="1050" dirty="0" err="1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int_orders_unioned</a:t>
                      </a:r>
                      <a:endParaRPr lang="en-IN" sz="1050" dirty="0">
                        <a:solidFill>
                          <a:schemeClr val="bg2"/>
                        </a:solidFill>
                      </a:endParaRPr>
                    </a:p>
                  </a:txBody>
                  <a:tcPr marL="78236" marR="78236" marT="39118" marB="39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8703338"/>
                  </a:ext>
                </a:extLst>
              </a:tr>
              <a:tr h="9193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reporting</a:t>
                      </a:r>
                      <a:endParaRPr lang="en-IN" sz="1050">
                        <a:solidFill>
                          <a:schemeClr val="bg2"/>
                        </a:solidFill>
                      </a:endParaRPr>
                    </a:p>
                  </a:txBody>
                  <a:tcPr marL="78236" marR="78236" marT="39118" marB="39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solidFill>
                            <a:schemeClr val="bg2"/>
                          </a:solidFill>
                        </a:rPr>
                        <a:t>Final, business-ready layer that people and dashboards actually query</a:t>
                      </a:r>
                    </a:p>
                  </a:txBody>
                  <a:tcPr marL="78236" marR="78236" marT="39118" marB="39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 err="1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dim_customer</a:t>
                      </a:r>
                      <a:r>
                        <a:rPr lang="en-IN" sz="1050" dirty="0">
                          <a:solidFill>
                            <a:schemeClr val="bg2"/>
                          </a:solidFill>
                        </a:rPr>
                        <a:t>, </a:t>
                      </a:r>
                      <a:r>
                        <a:rPr lang="en-IN" sz="1050" dirty="0" err="1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dim_product</a:t>
                      </a:r>
                      <a:r>
                        <a:rPr lang="en-IN" sz="1050" dirty="0">
                          <a:solidFill>
                            <a:schemeClr val="bg2"/>
                          </a:solidFill>
                        </a:rPr>
                        <a:t>, </a:t>
                      </a:r>
                      <a:r>
                        <a:rPr lang="en-IN" sz="1050" dirty="0" err="1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dim_campaign</a:t>
                      </a:r>
                      <a:r>
                        <a:rPr lang="en-IN" sz="1050" dirty="0">
                          <a:solidFill>
                            <a:schemeClr val="bg2"/>
                          </a:solidFill>
                        </a:rPr>
                        <a:t>, </a:t>
                      </a:r>
                      <a:r>
                        <a:rPr lang="en-IN" sz="1050" dirty="0" err="1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dim_date</a:t>
                      </a:r>
                      <a:r>
                        <a:rPr lang="en-IN" sz="1050" dirty="0">
                          <a:solidFill>
                            <a:schemeClr val="bg2"/>
                          </a:solidFill>
                        </a:rPr>
                        <a:t>, </a:t>
                      </a:r>
                      <a:r>
                        <a:rPr lang="en-IN" sz="1050" dirty="0" err="1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fact_orders</a:t>
                      </a:r>
                      <a:r>
                        <a:rPr lang="en-IN" sz="1050" dirty="0">
                          <a:solidFill>
                            <a:schemeClr val="bg2"/>
                          </a:solidFill>
                        </a:rPr>
                        <a:t>, </a:t>
                      </a:r>
                      <a:r>
                        <a:rPr lang="en-IN" sz="1050" dirty="0" err="1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rpt_sales_summary</a:t>
                      </a:r>
                      <a:endParaRPr lang="en-IN" sz="1050" dirty="0">
                        <a:solidFill>
                          <a:schemeClr val="bg2"/>
                        </a:solidFill>
                      </a:endParaRPr>
                    </a:p>
                  </a:txBody>
                  <a:tcPr marL="78236" marR="78236" marT="39118" marB="391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0819911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95290F45-BBD2-78F7-365B-E5BA69D44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0088" y="1257300"/>
            <a:ext cx="3997711" cy="30470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237359" y="956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IN" dirty="0"/>
              <a:t>Data </a:t>
            </a:r>
            <a:r>
              <a:rPr lang="en-IN" dirty="0" err="1"/>
              <a:t>Catalog</a:t>
            </a:r>
            <a:r>
              <a:rPr lang="en-IN" dirty="0"/>
              <a:t>: Table-Level Metadata</a:t>
            </a:r>
            <a:br>
              <a:rPr lang="en-IN" dirty="0"/>
            </a:br>
            <a:endParaRPr lang="en" b="1" dirty="0"/>
          </a:p>
        </p:txBody>
      </p:sp>
      <p:sp>
        <p:nvSpPr>
          <p:cNvPr id="3" name="Body"/>
          <p:cNvSpPr txBox="1">
            <a:spLocks noGrp="1"/>
          </p:cNvSpPr>
          <p:nvPr>
            <p:ph type="body" idx="1"/>
          </p:nvPr>
        </p:nvSpPr>
        <p:spPr>
          <a:xfrm>
            <a:off x="311700" y="668320"/>
            <a:ext cx="8520600" cy="16130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>
              <a:spcAft>
                <a:spcPts val="700"/>
              </a:spcAft>
              <a:buNone/>
            </a:pPr>
            <a:r>
              <a:rPr lang="en-IN" sz="1600" dirty="0"/>
              <a:t>Beyond dataset-level registration, </a:t>
            </a:r>
            <a:r>
              <a:rPr lang="en-IN" sz="1600" dirty="0" err="1"/>
              <a:t>Dataplex's</a:t>
            </a:r>
            <a:r>
              <a:rPr lang="en-IN" sz="1600" dirty="0"/>
              <a:t> Data </a:t>
            </a:r>
            <a:r>
              <a:rPr lang="en-IN" sz="1600" dirty="0" err="1"/>
              <a:t>Catalog</a:t>
            </a:r>
            <a:r>
              <a:rPr lang="en-IN" sz="1600" dirty="0"/>
              <a:t> also captures column-level detail for individual tables. The </a:t>
            </a:r>
            <a:r>
              <a:rPr lang="en-IN" dirty="0" err="1"/>
              <a:t>fact_orders</a:t>
            </a:r>
            <a:r>
              <a:rPr lang="en-IN" sz="1600" dirty="0"/>
              <a:t> entry shows an auto-generated overview describing its grain, sources, and security setup, along with a custom </a:t>
            </a:r>
            <a:r>
              <a:rPr lang="en-IN" dirty="0" err="1"/>
              <a:t>data_governance_contract</a:t>
            </a:r>
            <a:r>
              <a:rPr lang="en-IN" sz="1600" dirty="0"/>
              <a:t> aspect recording the data steward, sensitivity level (Confidential)</a:t>
            </a:r>
            <a:endParaRPr lang="en" sz="16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201AEFF-642D-8592-F433-2AB636F59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7659" y="1865506"/>
            <a:ext cx="4571999" cy="284030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595997A-1EF6-4A2A-8586-04D09E4703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45" y="2061981"/>
            <a:ext cx="4163656" cy="264383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buNone/>
            </a:pPr>
            <a:r>
              <a:rPr lang="en" b="1" dirty="0"/>
              <a:t>Dashboard</a:t>
            </a:r>
          </a:p>
        </p:txBody>
      </p:sp>
      <p:sp>
        <p:nvSpPr>
          <p:cNvPr id="3" name="Body"/>
          <p:cNvSpPr txBox="1">
            <a:spLocks noGrp="1"/>
          </p:cNvSpPr>
          <p:nvPr>
            <p:ph type="body" idx="1"/>
          </p:nvPr>
        </p:nvSpPr>
        <p:spPr>
          <a:xfrm>
            <a:off x="279083" y="2711545"/>
            <a:ext cx="4191720" cy="19463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>
              <a:buNone/>
            </a:pPr>
            <a:r>
              <a:rPr lang="en-IN" sz="1600" b="1" dirty="0"/>
              <a:t>Dataset Summary</a:t>
            </a:r>
          </a:p>
          <a:p>
            <a:pPr>
              <a:buNone/>
            </a:pPr>
            <a:r>
              <a:rPr lang="en-IN" sz="1600" b="1" dirty="0"/>
              <a:t>Order status breakdown:</a:t>
            </a:r>
            <a:r>
              <a:rPr lang="en-IN" sz="1600" dirty="0"/>
              <a:t> Delivered 89%, Returned 8%, Cancelled 3% · Return rate 7.9% · ~49% of orders have no campaign attached (organic) · Payment methods and warehouse regions are split roughly evenly</a:t>
            </a:r>
          </a:p>
          <a:p>
            <a:pPr>
              <a:buNone/>
            </a:pPr>
            <a:r>
              <a:rPr lang="en-IN" sz="1600" b="1" dirty="0"/>
              <a:t>Intentionally dirty data (for testing):</a:t>
            </a:r>
            <a:endParaRPr lang="en-IN" sz="1600" dirty="0"/>
          </a:p>
          <a:p>
            <a:pPr marL="342900" lvl="0">
              <a:buFont typeface="Arial" panose="020B0604020202020204" pitchFamily="34" charset="0"/>
              <a:buChar char="•"/>
            </a:pPr>
            <a:r>
              <a:rPr lang="en-IN" sz="1600" dirty="0"/>
              <a:t>10 bad rows in batch (ORD_BAD_B01–B10): missing fields, negative/zero/text quantity values</a:t>
            </a:r>
          </a:p>
          <a:p>
            <a:pPr marL="342900" lvl="0">
              <a:buFont typeface="Arial" panose="020B0604020202020204" pitchFamily="34" charset="0"/>
              <a:buChar char="•"/>
            </a:pPr>
            <a:r>
              <a:rPr lang="en-IN" sz="1600" dirty="0"/>
              <a:t>500 duplicate </a:t>
            </a:r>
            <a:r>
              <a:rPr lang="en-IN" sz="1600" dirty="0" err="1">
                <a:latin typeface="Courier New" panose="02070309020205020404" pitchFamily="49" charset="0"/>
              </a:rPr>
              <a:t>order_id</a:t>
            </a:r>
            <a:r>
              <a:rPr lang="en-IN" sz="1600" dirty="0"/>
              <a:t> in batch (for </a:t>
            </a:r>
            <a:r>
              <a:rPr lang="en-IN" sz="1600" dirty="0" err="1"/>
              <a:t>dedup</a:t>
            </a:r>
            <a:r>
              <a:rPr lang="en-IN" sz="1600" dirty="0"/>
              <a:t> testing)</a:t>
            </a:r>
          </a:p>
          <a:p>
            <a:pPr marL="342900" lvl="0">
              <a:buFont typeface="Arial" panose="020B0604020202020204" pitchFamily="34" charset="0"/>
              <a:buChar char="•"/>
            </a:pPr>
            <a:r>
              <a:rPr lang="en-IN" sz="1600" dirty="0"/>
              <a:t>10 bad rows in stream (ORD_BAD_S01–S10): same issues plus one incorrectly formatted date</a:t>
            </a:r>
          </a:p>
          <a:p>
            <a:pPr marL="342900" lvl="0">
              <a:buFont typeface="Arial" panose="020B0604020202020204" pitchFamily="34" charset="0"/>
              <a:buChar char="•"/>
            </a:pPr>
            <a:r>
              <a:rPr lang="en-IN" sz="1600" dirty="0"/>
              <a:t>2 special rows in stream (ORD_LATE_TEST) — for late-arrival testing, dated close to the current date</a:t>
            </a:r>
          </a:p>
          <a:p>
            <a:pPr marL="457200" lvl="0" indent="-342900" algn="l" rtl="0">
              <a:spcAft>
                <a:spcPts val="600"/>
              </a:spcAft>
              <a:buFont typeface="Arial"/>
              <a:buChar char="•"/>
            </a:pPr>
            <a:endParaRPr lang="en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F68EEF-3A2D-EE67-8E12-6DABAF8C4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5814" y="1152475"/>
            <a:ext cx="4126485" cy="3416400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D7E3FD0-1DDF-41AB-1D73-982421264F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6748710"/>
              </p:ext>
            </p:extLst>
          </p:nvPr>
        </p:nvGraphicFramePr>
        <p:xfrm>
          <a:off x="311700" y="1152475"/>
          <a:ext cx="4126486" cy="1436385"/>
        </p:xfrm>
        <a:graphic>
          <a:graphicData uri="http://schemas.openxmlformats.org/drawingml/2006/table">
            <a:tbl>
              <a:tblPr/>
              <a:tblGrid>
                <a:gridCol w="2063243">
                  <a:extLst>
                    <a:ext uri="{9D8B030D-6E8A-4147-A177-3AD203B41FA5}">
                      <a16:colId xmlns:a16="http://schemas.microsoft.com/office/drawing/2014/main" val="1712899299"/>
                    </a:ext>
                  </a:extLst>
                </a:gridCol>
                <a:gridCol w="2063243">
                  <a:extLst>
                    <a:ext uri="{9D8B030D-6E8A-4147-A177-3AD203B41FA5}">
                      <a16:colId xmlns:a16="http://schemas.microsoft.com/office/drawing/2014/main" val="3968147662"/>
                    </a:ext>
                  </a:extLst>
                </a:gridCol>
              </a:tblGrid>
              <a:tr h="1561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File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Rows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9477706"/>
                  </a:ext>
                </a:extLst>
              </a:tr>
              <a:tr h="265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orders_historical.csv (batch)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24,985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7554068"/>
                  </a:ext>
                </a:extLst>
              </a:tr>
              <a:tr h="265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orders_new.csv (stream)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37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6618252"/>
                  </a:ext>
                </a:extLst>
              </a:tr>
              <a:tr h="1561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customers.csv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4,000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679240"/>
                  </a:ext>
                </a:extLst>
              </a:tr>
              <a:tr h="265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products.csv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1,200 (6 categories × 200)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1907960"/>
                  </a:ext>
                </a:extLst>
              </a:tr>
              <a:tr h="1561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campaigns.csv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626142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IN" dirty="0"/>
              <a:t>Security: Row-Level and Column-Level Security</a:t>
            </a:r>
            <a:endParaRPr lang="en" b="1" dirty="0"/>
          </a:p>
        </p:txBody>
      </p:sp>
      <p:sp>
        <p:nvSpPr>
          <p:cNvPr id="3" name="Body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r>
              <a:rPr lang="en-IN" sz="1600" b="1" dirty="0"/>
              <a:t>Row-Level Security</a:t>
            </a:r>
            <a:br>
              <a:rPr lang="en-IN" sz="1600" dirty="0"/>
            </a:br>
            <a:r>
              <a:rPr lang="en-IN" sz="1600" dirty="0"/>
              <a:t>Defined in </a:t>
            </a:r>
            <a:r>
              <a:rPr lang="en-IN" dirty="0" err="1"/>
              <a:t>sql</a:t>
            </a:r>
            <a:r>
              <a:rPr lang="en-IN" dirty="0"/>
              <a:t>/03_row_level_security.sql</a:t>
            </a:r>
            <a:r>
              <a:rPr lang="en-IN" sz="1600" dirty="0"/>
              <a:t>, a row access policy was created directly on </a:t>
            </a:r>
            <a:r>
              <a:rPr lang="en-IN" dirty="0" err="1"/>
              <a:t>reporting.fact_orders</a:t>
            </a:r>
            <a:r>
              <a:rPr lang="en-IN" sz="1600" dirty="0"/>
              <a:t>. In this demo, a specific test user is restricted so they can only see rows where </a:t>
            </a:r>
            <a:r>
              <a:rPr lang="en-IN" dirty="0" err="1"/>
              <a:t>warehouse_region</a:t>
            </a:r>
            <a:r>
              <a:rPr lang="en-IN" sz="1600" dirty="0"/>
              <a:t> equals </a:t>
            </a:r>
            <a:r>
              <a:rPr lang="en-IN" dirty="0"/>
              <a:t>West Hub</a:t>
            </a:r>
            <a:r>
              <a:rPr lang="en-IN" sz="1600" dirty="0"/>
              <a:t> — they cannot see orders from any other region, even though the underlying table contains all of them. In a production environment, this single user would be replaced with an IAM group, so an entire team of regional analysts automatically gets the same restriction.</a:t>
            </a:r>
          </a:p>
          <a:p>
            <a:r>
              <a:rPr lang="en-IN" sz="1600" b="1" dirty="0"/>
              <a:t>Column-Level Security</a:t>
            </a:r>
            <a:br>
              <a:rPr lang="en-IN" sz="1600" dirty="0"/>
            </a:br>
            <a:r>
              <a:rPr lang="en-IN" sz="1600" dirty="0"/>
              <a:t>This was implemented using Data </a:t>
            </a:r>
            <a:r>
              <a:rPr lang="en-IN" sz="1600" dirty="0" err="1"/>
              <a:t>Catalog</a:t>
            </a:r>
            <a:r>
              <a:rPr lang="en-IN" sz="1600" dirty="0"/>
              <a:t> policy tags. A taxonomy called </a:t>
            </a:r>
            <a:r>
              <a:rPr lang="en-IN" dirty="0" err="1"/>
              <a:t>ecom_sensitive_finance</a:t>
            </a:r>
            <a:r>
              <a:rPr lang="en-IN" sz="1600" dirty="0"/>
              <a:t> was created, and sensitive columns were tagged with it. Any user who has not been explicitly granted the </a:t>
            </a:r>
            <a:r>
              <a:rPr lang="en-IN" dirty="0" err="1"/>
              <a:t>fineGrainedReader</a:t>
            </a:r>
            <a:r>
              <a:rPr lang="en-IN" sz="1600" dirty="0"/>
              <a:t> role on that taxonomy sees a </a:t>
            </a:r>
            <a:r>
              <a:rPr lang="en-IN" dirty="0"/>
              <a:t>NULL</a:t>
            </a:r>
            <a:r>
              <a:rPr lang="en-IN" sz="1600" dirty="0"/>
              <a:t> value for those columns instead of the real data, even if they otherwise have full read access to the table. This demonstrates fine-grained protection of sensitive data without needing to build and maintain separate restricted copies of the same table.</a:t>
            </a:r>
          </a:p>
          <a:p>
            <a:pPr marL="0" lvl="0" indent="0" algn="l" rtl="0">
              <a:spcAft>
                <a:spcPts val="900"/>
              </a:spcAft>
              <a:buNone/>
            </a:pPr>
            <a:endParaRPr lang="en" sz="1600" i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IN" dirty="0"/>
              <a:t>Requirement Coverage Summary</a:t>
            </a:r>
            <a:endParaRPr lang="en" b="1" dirty="0"/>
          </a:p>
        </p:txBody>
      </p:sp>
      <p:sp>
        <p:nvSpPr>
          <p:cNvPr id="3" name="Body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Aft>
                <a:spcPts val="300"/>
              </a:spcAft>
              <a:buNone/>
            </a:pPr>
            <a:endParaRPr lang="en" sz="13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A3FB02D-24A3-F521-CF35-61A1F43235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8896617"/>
              </p:ext>
            </p:extLst>
          </p:nvPr>
        </p:nvGraphicFramePr>
        <p:xfrm>
          <a:off x="311700" y="1105179"/>
          <a:ext cx="7680008" cy="3441003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3840004">
                  <a:extLst>
                    <a:ext uri="{9D8B030D-6E8A-4147-A177-3AD203B41FA5}">
                      <a16:colId xmlns:a16="http://schemas.microsoft.com/office/drawing/2014/main" val="104904836"/>
                    </a:ext>
                  </a:extLst>
                </a:gridCol>
                <a:gridCol w="3840004">
                  <a:extLst>
                    <a:ext uri="{9D8B030D-6E8A-4147-A177-3AD203B41FA5}">
                      <a16:colId xmlns:a16="http://schemas.microsoft.com/office/drawing/2014/main" val="1262275722"/>
                    </a:ext>
                  </a:extLst>
                </a:gridCol>
              </a:tblGrid>
              <a:tr h="1682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Area</a:t>
                      </a:r>
                    </a:p>
                  </a:txBody>
                  <a:tcPr marL="50487" marR="50487" marT="25244" marB="252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Status</a:t>
                      </a:r>
                    </a:p>
                  </a:txBody>
                  <a:tcPr marL="50487" marR="50487" marT="25244" marB="25244" anchor="ctr"/>
                </a:tc>
                <a:extLst>
                  <a:ext uri="{0D108BD9-81ED-4DB2-BD59-A6C34878D82A}">
                    <a16:rowId xmlns:a16="http://schemas.microsoft.com/office/drawing/2014/main" val="2382391950"/>
                  </a:ext>
                </a:extLst>
              </a:tr>
              <a:tr h="2860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Cloud Storage, Pub/Sub, Dataflow, BigQuery, Dataplex all configured</a:t>
                      </a:r>
                    </a:p>
                  </a:txBody>
                  <a:tcPr marL="50487" marR="50487" marT="25244" marB="252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Complete</a:t>
                      </a:r>
                    </a:p>
                  </a:txBody>
                  <a:tcPr marL="50487" marR="50487" marT="25244" marB="25244" anchor="ctr"/>
                </a:tc>
                <a:extLst>
                  <a:ext uri="{0D108BD9-81ED-4DB2-BD59-A6C34878D82A}">
                    <a16:rowId xmlns:a16="http://schemas.microsoft.com/office/drawing/2014/main" val="3271288071"/>
                  </a:ext>
                </a:extLst>
              </a:tr>
              <a:tr h="2860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Batch ingestion and streaming ingestion both implemented</a:t>
                      </a:r>
                    </a:p>
                  </a:txBody>
                  <a:tcPr marL="50487" marR="50487" marT="25244" marB="252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Complete</a:t>
                      </a:r>
                    </a:p>
                  </a:txBody>
                  <a:tcPr marL="50487" marR="50487" marT="25244" marB="25244" anchor="ctr"/>
                </a:tc>
                <a:extLst>
                  <a:ext uri="{0D108BD9-81ED-4DB2-BD59-A6C34878D82A}">
                    <a16:rowId xmlns:a16="http://schemas.microsoft.com/office/drawing/2014/main" val="2726272165"/>
                  </a:ext>
                </a:extLst>
              </a:tr>
              <a:tr h="2860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Deduplication, invalid record handling, error logging, transformations</a:t>
                      </a:r>
                      <a:endParaRPr lang="en-IN" sz="800" dirty="0"/>
                    </a:p>
                  </a:txBody>
                  <a:tcPr marL="50487" marR="50487" marT="25244" marB="252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Complete</a:t>
                      </a:r>
                    </a:p>
                  </a:txBody>
                  <a:tcPr marL="50487" marR="50487" marT="25244" marB="25244" anchor="ctr"/>
                </a:tc>
                <a:extLst>
                  <a:ext uri="{0D108BD9-81ED-4DB2-BD59-A6C34878D82A}">
                    <a16:rowId xmlns:a16="http://schemas.microsoft.com/office/drawing/2014/main" val="1209224519"/>
                  </a:ext>
                </a:extLst>
              </a:tr>
              <a:tr h="2860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Raw, processed, and reporting datasets, including one reporting view</a:t>
                      </a:r>
                    </a:p>
                  </a:txBody>
                  <a:tcPr marL="50487" marR="50487" marT="25244" marB="252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Complete</a:t>
                      </a:r>
                    </a:p>
                  </a:txBody>
                  <a:tcPr marL="50487" marR="50487" marT="25244" marB="25244" anchor="ctr"/>
                </a:tc>
                <a:extLst>
                  <a:ext uri="{0D108BD9-81ED-4DB2-BD59-A6C34878D82A}">
                    <a16:rowId xmlns:a16="http://schemas.microsoft.com/office/drawing/2014/main" val="1512538683"/>
                  </a:ext>
                </a:extLst>
              </a:tr>
              <a:tr h="2860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Dataplex dataset registration, metadata viewing, and lineage</a:t>
                      </a:r>
                    </a:p>
                  </a:txBody>
                  <a:tcPr marL="50487" marR="50487" marT="25244" marB="252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Complete</a:t>
                      </a:r>
                    </a:p>
                  </a:txBody>
                  <a:tcPr marL="50487" marR="50487" marT="25244" marB="25244" anchor="ctr"/>
                </a:tc>
                <a:extLst>
                  <a:ext uri="{0D108BD9-81ED-4DB2-BD59-A6C34878D82A}">
                    <a16:rowId xmlns:a16="http://schemas.microsoft.com/office/drawing/2014/main" val="4207655708"/>
                  </a:ext>
                </a:extLst>
              </a:tr>
              <a:tr h="1682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Stretch : both Cloud Run and Dataflow used</a:t>
                      </a:r>
                    </a:p>
                  </a:txBody>
                  <a:tcPr marL="50487" marR="50487" marT="25244" marB="252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Complete  additional credit:</a:t>
                      </a:r>
                    </a:p>
                  </a:txBody>
                  <a:tcPr marL="50487" marR="50487" marT="25244" marB="25244" anchor="ctr"/>
                </a:tc>
                <a:extLst>
                  <a:ext uri="{0D108BD9-81ED-4DB2-BD59-A6C34878D82A}">
                    <a16:rowId xmlns:a16="http://schemas.microsoft.com/office/drawing/2014/main" val="2481320844"/>
                  </a:ext>
                </a:extLst>
              </a:tr>
              <a:tr h="1682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Stretch: idempotent duplicate handling</a:t>
                      </a:r>
                    </a:p>
                  </a:txBody>
                  <a:tcPr marL="50487" marR="50487" marT="25244" marB="252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Complete  additional credit:</a:t>
                      </a:r>
                    </a:p>
                  </a:txBody>
                  <a:tcPr marL="50487" marR="50487" marT="25244" marB="25244" anchor="ctr"/>
                </a:tc>
                <a:extLst>
                  <a:ext uri="{0D108BD9-81ED-4DB2-BD59-A6C34878D82A}">
                    <a16:rowId xmlns:a16="http://schemas.microsoft.com/office/drawing/2014/main" val="4079669858"/>
                  </a:ext>
                </a:extLst>
              </a:tr>
              <a:tr h="2860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Stretch: invalid records routed to a separate error table</a:t>
                      </a:r>
                    </a:p>
                  </a:txBody>
                  <a:tcPr marL="50487" marR="50487" marT="25244" marB="252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Complete  additional credit:</a:t>
                      </a:r>
                    </a:p>
                  </a:txBody>
                  <a:tcPr marL="50487" marR="50487" marT="25244" marB="25244" anchor="ctr"/>
                </a:tc>
                <a:extLst>
                  <a:ext uri="{0D108BD9-81ED-4DB2-BD59-A6C34878D82A}">
                    <a16:rowId xmlns:a16="http://schemas.microsoft.com/office/drawing/2014/main" val="1645449314"/>
                  </a:ext>
                </a:extLst>
              </a:tr>
              <a:tr h="1682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Stretch: late-arriving record handling</a:t>
                      </a:r>
                    </a:p>
                  </a:txBody>
                  <a:tcPr marL="50487" marR="50487" marT="25244" marB="252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Complete  additional credit:</a:t>
                      </a:r>
                    </a:p>
                  </a:txBody>
                  <a:tcPr marL="50487" marR="50487" marT="25244" marB="25244" anchor="ctr"/>
                </a:tc>
                <a:extLst>
                  <a:ext uri="{0D108BD9-81ED-4DB2-BD59-A6C34878D82A}">
                    <a16:rowId xmlns:a16="http://schemas.microsoft.com/office/drawing/2014/main" val="2335164350"/>
                  </a:ext>
                </a:extLst>
              </a:tr>
              <a:tr h="2860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Stretch: Row-Level and Column-Level Security together</a:t>
                      </a:r>
                    </a:p>
                  </a:txBody>
                  <a:tcPr marL="50487" marR="50487" marT="25244" marB="252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Complete  additional credit:</a:t>
                      </a:r>
                    </a:p>
                  </a:txBody>
                  <a:tcPr marL="50487" marR="50487" marT="25244" marB="25244" anchor="ctr"/>
                </a:tc>
                <a:extLst>
                  <a:ext uri="{0D108BD9-81ED-4DB2-BD59-A6C34878D82A}">
                    <a16:rowId xmlns:a16="http://schemas.microsoft.com/office/drawing/2014/main" val="3100404164"/>
                  </a:ext>
                </a:extLst>
              </a:tr>
              <a:tr h="1682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Stretch: Looker Studio dashboard</a:t>
                      </a:r>
                    </a:p>
                  </a:txBody>
                  <a:tcPr marL="50487" marR="50487" marT="25244" marB="252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Complete additional credit:</a:t>
                      </a:r>
                    </a:p>
                  </a:txBody>
                  <a:tcPr marL="50487" marR="50487" marT="25244" marB="25244" anchor="ctr"/>
                </a:tc>
                <a:extLst>
                  <a:ext uri="{0D108BD9-81ED-4DB2-BD59-A6C34878D82A}">
                    <a16:rowId xmlns:a16="http://schemas.microsoft.com/office/drawing/2014/main" val="3089631841"/>
                  </a:ext>
                </a:extLst>
              </a:tr>
              <a:tr h="1682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Stretch: Cloud Logging</a:t>
                      </a:r>
                    </a:p>
                  </a:txBody>
                  <a:tcPr marL="50487" marR="50487" marT="25244" marB="252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Complete  additional credit:</a:t>
                      </a:r>
                    </a:p>
                  </a:txBody>
                  <a:tcPr marL="50487" marR="50487" marT="25244" marB="25244" anchor="ctr"/>
                </a:tc>
                <a:extLst>
                  <a:ext uri="{0D108BD9-81ED-4DB2-BD59-A6C34878D82A}">
                    <a16:rowId xmlns:a16="http://schemas.microsoft.com/office/drawing/2014/main" val="3607781923"/>
                  </a:ext>
                </a:extLst>
              </a:tr>
              <a:tr h="4038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Stretch:  Parquet formats</a:t>
                      </a:r>
                    </a:p>
                  </a:txBody>
                  <a:tcPr marL="50487" marR="50487" marT="25244" marB="252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Complete  additional credit:</a:t>
                      </a:r>
                    </a:p>
                  </a:txBody>
                  <a:tcPr marL="50487" marR="50487" marT="25244" marB="25244" anchor="ctr"/>
                </a:tc>
                <a:extLst>
                  <a:ext uri="{0D108BD9-81ED-4DB2-BD59-A6C34878D82A}">
                    <a16:rowId xmlns:a16="http://schemas.microsoft.com/office/drawing/2014/main" val="116772228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311700" y="1450000"/>
            <a:ext cx="8520600" cy="224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buNone/>
            </a:pPr>
            <a:r>
              <a:rPr lang="en" sz="4000" b="1" dirty="0"/>
              <a:t>Thank You</a:t>
            </a:r>
          </a:p>
          <a:p>
            <a:pPr marL="0" lvl="0" indent="0" algn="ctr" rtl="0">
              <a:spcBef>
                <a:spcPts val="1200"/>
              </a:spcBef>
              <a:buNone/>
            </a:pPr>
            <a:endParaRPr lang="en" sz="1800" b="1" dirty="0">
              <a:solidFill>
                <a:srgbClr val="0086D6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vel Labs">
  <a:themeElements>
    <a:clrScheme name="Simple Light">
      <a:dk1>
        <a:srgbClr val="0086D6"/>
      </a:dk1>
      <a:lt1>
        <a:srgbClr val="FFFFFF"/>
      </a:lt1>
      <a:dk2>
        <a:srgbClr val="000000"/>
      </a:dk2>
      <a:lt2>
        <a:srgbClr val="EEEEEE"/>
      </a:lt2>
      <a:accent1>
        <a:srgbClr val="62B5E5"/>
      </a:accent1>
      <a:accent2>
        <a:srgbClr val="00A3E0"/>
      </a:accent2>
      <a:accent3>
        <a:srgbClr val="0C2340"/>
      </a:accent3>
      <a:accent4>
        <a:srgbClr val="C8C9C7"/>
      </a:accent4>
      <a:accent5>
        <a:srgbClr val="888B8D"/>
      </a:accent5>
      <a:accent6>
        <a:srgbClr val="333F48"/>
      </a:accent6>
      <a:hlink>
        <a:srgbClr val="FE5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1666</Words>
  <Application>Microsoft Office PowerPoint</Application>
  <PresentationFormat>On-screen Show (16:9)</PresentationFormat>
  <Paragraphs>134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Courier New</vt:lpstr>
      <vt:lpstr>Montserrat</vt:lpstr>
      <vt:lpstr>Arial</vt:lpstr>
      <vt:lpstr>Open Sans</vt:lpstr>
      <vt:lpstr>Revel Labs</vt:lpstr>
      <vt:lpstr>M3 – Batch + Streaming Ingestion, BigQuery Medallion Architecture, Dataplex Governance, Cloud Run &amp; Dataflow on GCP</vt:lpstr>
      <vt:lpstr>What This Project Does</vt:lpstr>
      <vt:lpstr># Project Structure </vt:lpstr>
      <vt:lpstr>IAM &amp; Security Setup</vt:lpstr>
      <vt:lpstr>Project setup and enabling APIs </vt:lpstr>
      <vt:lpstr>Cloud Run</vt:lpstr>
      <vt:lpstr>Cloud Storage Buckets</vt:lpstr>
      <vt:lpstr>Pub/Sub Setup</vt:lpstr>
      <vt:lpstr>Dataflow Streaming Job</vt:lpstr>
      <vt:lpstr>BigQuery: Raw, Processed, and Reporting Layers</vt:lpstr>
      <vt:lpstr>Data Catalog: Table-Level Metadata </vt:lpstr>
      <vt:lpstr>Dashboard</vt:lpstr>
      <vt:lpstr>Security: Row-Level and Column-Level Security</vt:lpstr>
      <vt:lpstr>Requirement Coverage Summary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windows11</dc:creator>
  <cp:lastModifiedBy>Rudra Sharma</cp:lastModifiedBy>
  <cp:revision>3</cp:revision>
  <dcterms:modified xsi:type="dcterms:W3CDTF">2026-08-24T03:57:19Z</dcterms:modified>
</cp:coreProperties>
</file>